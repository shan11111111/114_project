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700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0261E5-B7A8-407C-8EC1-76B17CEB3BFC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0AEE62-6B03-446E-B028-1F2C67AA2CBE}" type="datetime1">
              <a:rPr lang="zh-TW" altLang="en-US" smtClean="0"/>
              <a:t>2025/12/21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E8D126-38DE-467F-A065-2775F6C58740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5B7815-05FA-48A0-B9F7-1E04C4F2927A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BF2AB9-D521-429F-BA9E-A2DD356AF2DF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48A74C-3BFC-4F64-9D88-E80E3E32994C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預留位置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66BAE-2749-48CF-A2DD-C010F9F8CC67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投影片編號預留位置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B3E87-0960-43A6-B33B-AB6B15A82628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92F8F0-693D-4EF4-BEF5-7FD95F4C1D80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E96419C-65CA-4A96-8C8D-1B83D1EEA06C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5B0D56E-A8D9-4835-9121-D0F2B7B922B1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90E0D-C35F-4A14-A7E8-7670CE6639F2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E02858-A2D1-43A3-9BDC-80D1F48AA51B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tw" dirty="0"/>
              <a:t>按一下以編輯母片文字樣式</a:t>
            </a:r>
          </a:p>
          <a:p>
            <a:pPr lvl="1" rtl="0"/>
            <a:r>
              <a:rPr lang="zh-tw" dirty="0"/>
              <a:t>第二層</a:t>
            </a:r>
          </a:p>
          <a:p>
            <a:pPr lvl="2" rtl="0"/>
            <a:r>
              <a:rPr lang="zh-tw" dirty="0"/>
              <a:t>第三層</a:t>
            </a:r>
          </a:p>
          <a:p>
            <a:pPr lvl="3" rtl="0"/>
            <a:r>
              <a:rPr lang="zh-tw" dirty="0"/>
              <a:t>第四層</a:t>
            </a:r>
          </a:p>
          <a:p>
            <a:pPr lvl="4" rtl="0"/>
            <a:r>
              <a:rPr lang="zh-tw" dirty="0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6D72111-2BF8-49E3-AA06-55BC47AB46EA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MingLiu" panose="02020509000000000000" pitchFamily="49" charset="-120"/>
          <a:ea typeface="MingLiu" panose="02020509000000000000" pitchFamily="49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/>
              <a:t>骨科互動助理－學習報告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/>
              <a:t>Session ID：guest-1774164497328-6fae5fbc48d02::tmp-1774166271936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1"/>
              <a:t>GalaBone：</a:t>
            </a:r>
            <a:r>
              <a:rPr sz="2000" b="0"/>
              <a:t>嗨，我是 GalaBone LLM。</a:t>
            </a:r>
          </a:p>
          <a:p>
            <a:pPr>
              <a:buNone/>
            </a:pPr>
            <a:r>
              <a:rPr sz="2000" b="0"/>
              <a:t>　</a:t>
            </a:r>
          </a:p>
          <a:p>
            <a:pPr>
              <a:buNone/>
            </a:pPr>
            <a:r>
              <a:rPr sz="2000" b="0"/>
              <a:t>　我們的目標是成為骨科醫護的好幫手，幫你快速理解醫療報告、病歷記錄
　，甚至是 X 光影像裡的骨頭狀況。</a:t>
            </a:r>
          </a:p>
          <a:p>
            <a:pPr>
              <a:buNone/>
            </a:pPr>
            <a:r>
              <a:rPr sz="2000" b="0"/>
              <a:t>　依據：本次未提供可追溯來源的資訊，僅供參考。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</a:t>
            </a:r>
          </a:p>
          <a:p>
            <a:pPr>
              <a:buNone/>
            </a:pPr>
            <a:r>
              <a:rPr sz="2000" b="0"/>
              <a:t>　使用說明：</a:t>
            </a:r>
          </a:p>
          <a:p>
            <a:pPr>
              <a:buNone/>
            </a:pPr>
            <a:r>
              <a:rPr sz="2000" b="0"/>
              <a:t>　1. 你可以直接輸入醫療報告裡的文字，或是病歷記錄的內容，我會盡
　力幫你解釋。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2. 如果你有 X 光影像的 URL，也可以直接丟給我，我會嘗試
　辨識骨頭狀況並解釋。</a:t>
            </a:r>
          </a:p>
          <a:p>
            <a:pPr>
              <a:buNone/>
            </a:pPr>
            <a:r>
              <a:rPr sz="2000" b="0"/>
              <a:t>　3. 目前這是個 Demo，所以我的回覆都是模擬的，正式版本會連
　接真正的後端服務，提供更準確的解釋。</a:t>
            </a:r>
          </a:p>
          <a:p>
            <a:pPr>
              <a:buNone/>
            </a:pPr>
            <a:r>
              <a:rPr sz="2000" b="0"/>
              <a:t>　4. 請勿輸入任何敏感個資或真實姓名，保護你的隱私安全。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5. 如果你有任何建議或回饋，歡迎告訴我們，讓 GalaBone
　 變得更好！</a:t>
            </a:r>
          </a:p>
          <a:p>
            <a:pPr>
              <a:buNone/>
            </a:pPr>
            <a:r>
              <a:rPr sz="2000" b="0"/>
              <a:t>　期待能成為你在骨科領域的好幫手！</a:t>
            </a:r>
          </a:p>
          <a:p>
            <a:pPr>
              <a:buNone/>
            </a:pPr>
            <a:r>
              <a:rPr sz="2000" b="0"/>
              <a:t>　（這段歡迎詞會在正式版本裡優化，現在先放這裡測試用）</a:t>
            </a:r>
          </a:p>
          <a:p>
            <a:pPr>
              <a:buNone/>
            </a:pPr>
            <a:r>
              <a:rPr sz="2000" b="1"/>
              <a:t>我：</a:t>
            </a:r>
            <a:r>
              <a:rPr sz="2000" b="0"/>
              <a:t>（已上傳檔案）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1"/>
              <a:t>GalaBone：</a:t>
            </a:r>
            <a:r>
              <a:rPr sz="2000" b="0"/>
              <a:t>結論：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目前針對晚期前列腺癌（包括轉移性及去勢抵抗性前列腺癌）的管理，雖
　然有多項創新影像技術和分子特徵分析及新治療選項，但仍缺乏高層級證
　據支持許多臨床決策。2022年先進前列腺癌共識會議（APCCC 
　2022）透過專家投票，針對多個具爭議性的臨床問題提供共識意見，
　協助臨床醫師在缺乏明確證據時做出個別化治療決策，並強調臨床試驗的
　重要性。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</a:t>
            </a:r>
          </a:p>
          <a:p>
            <a:pPr>
              <a:buNone/>
            </a:pPr>
            <a:r>
              <a:rPr sz="2000" b="0"/>
              <a:t>　重點整理：</a:t>
            </a:r>
          </a:p>
          <a:p>
            <a:pPr>
              <a:buNone/>
            </a:pPr>
            <a:r>
              <a:rPr sz="2000" b="0"/>
              <a:t>　1. 晚期前列腺癌的管理涵蓋多個階段，包括轉移性荷爾蒙敏感性前列
　腺癌（mHSPC）、非轉移性去勢抵抗性前列腺癌（nmCRPC）、
　轉移性去勢抵抗性前列腺癌（mCRPC）及寡轉移性前列腺癌。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2. APCCC 2022會議由105位國際專家組成，針對198
　個預先定義的問題進行投票，其中116題與轉移性及去勢抵抗性前列腺
　癌相關。</a:t>
            </a:r>
          </a:p>
          <a:p>
            <a:pPr>
              <a:buNone/>
            </a:pPr>
            <a:r>
              <a:rPr sz="2000" b="0"/>
              <a:t>　3. 專家投票結果反映目前臨床上存在的知識缺口與爭議，並提供實務
　指引，協助醫師與患者共同決策。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4. 治療決策需考量患者特性（如疾病範圍、先前治療、共病狀況、患
　者偏好）、最新臨床證據及經濟與後勤因素。</a:t>
            </a:r>
          </a:p>
          <a:p>
            <a:pPr>
              <a:buNone/>
            </a:pPr>
            <a:r>
              <a:rPr sz="2000" b="0"/>
              <a:t>　5. 強烈建議患者參與臨床試驗，以填補現有證據不足的空白。</a:t>
            </a:r>
          </a:p>
          <a:p>
            <a:pPr>
              <a:buNone/>
            </a:pPr>
            <a:r>
              <a:rPr sz="2000" b="0"/>
              <a:t>　6. APCCC 2022也指出未達共識的議題，呼籲未來設計專門
　研究以解決這些問題。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</a:t>
            </a:r>
          </a:p>
          <a:p>
            <a:pPr>
              <a:buNone/>
            </a:pPr>
            <a:r>
              <a:rPr sz="2000" b="0"/>
              <a:t>　參考來源：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- Management of patients with ad
　vanced prostate cancer-metastati
　c and/or castration-resistant pr
　ostate cancer: Report of the Adv
　anced Prostate Cancer Consensus 
　Conference (APCCC) 2022.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PMID: 37003085  </a:t>
            </a:r>
          </a:p>
          <a:p>
            <a:pPr>
              <a:buNone/>
            </a:pPr>
            <a:r>
              <a:rPr sz="2000" b="0"/>
              <a:t>　https://pubmed.ncbi.nlm.nih.gov/
　37003085/</a:t>
            </a:r>
          </a:p>
          <a:p>
            <a:pPr>
              <a:buNone/>
            </a:pPr>
            <a:r>
              <a:rPr sz="2000" b="0"/>
              <a:t>　</a:t>
            </a:r>
          </a:p>
          <a:p>
            <a:pPr>
              <a:buNone/>
            </a:pPr>
            <a:r>
              <a:rPr sz="2000" b="0"/>
              <a:t>　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【PubMed Sources】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[#1] Management of patients with
　 advanced prostate cancer-metast
　atic and/or castration-resistant
　 prostate cancer: Report of the 
　Advanced Prostate Cancer Consens
　us Conference (APCCC) 2022. · Eu
　ropean journal of cancer (Oxford
　, England : 1990) · 2023 · PMID:
　37003085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    https://pubmed.ncbi.nlm.nih.
　gov/37003085/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[#2] Evidence-Based Artificial I
　ntelligence in Medical Imaging. 
　· PET clinics · 2022 · PMID:3480
　9869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    https://pubmed.ncbi.nlm.nih.
　gov/34809869/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[#3] Non-invasive assessment of 
　portal hypertension: Liver stiff
　ness and beyond. · JHEP reports 
　: innovation in hepatology · 202
　5 · PMID:40034396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    https://pubmed.ncbi.nlm.nih.
　gov/40034396/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[#4] Please don't gayify!: an au
　toethnographic account of medica
　lised relationality for LGBTQI+ 
　safe affirming medical health ed
　ucation and clinical practice. ·
　 Frontiers in sociology · 2024 ·
　 PMID:39233919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    https://pubmed.ncbi.nlm.nih.
　gov/39233919/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[#5] Online Medical Misinformati
　on in Cancer: Distinguishing Fac
　t From Fiction. · JCO oncology p
　ractice · 2022 · PMID:35357887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本次對話內容（續）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82880" rIns="182880" tIns="91440" bIns="91440">
            <a:normAutofit/>
          </a:bodyPr>
          <a:lstStyle/>
          <a:p>
            <a:pPr>
              <a:buNone/>
            </a:pPr>
            <a:r>
              <a:rPr sz="2000" b="0"/>
              <a:t>　    https://pubmed.ncbi.nlm.nih.
　gov/35357887/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65_TF56160789.potx" id="{C03BE16E-05B7-438C-85CB-7604B66C50C5}" vid="{E3EA7662-8E7E-4B1D-9203-FBA998A8613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{FAA7F420-867C-4942-95F3-BAEBE51DDF67}TFf0a5ceae-4542-492d-822e-d65a94fb0e1eb1361072_win32-aaceef65831a</Template>
  <TotalTime>13</TotalTime>
  <Words>36</Words>
  <Application>Microsoft Office PowerPoint</Application>
  <PresentationFormat>寬螢幕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Microsoft JhengHei UI</vt:lpstr>
      <vt:lpstr>MingLiu</vt:lpstr>
      <vt:lpstr>Calibri</vt:lpstr>
      <vt:lpstr>1_RetrospectVTI</vt:lpstr>
      <vt:lpstr>標題 Lorem Ipsum</vt:lpstr>
      <vt:lpstr>一個人的引言反應出他的思想……「這是我的一小步，是人類的一大步。」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怡珊 陳</dc:creator>
  <cp:lastModifiedBy>怡珊 陳</cp:lastModifiedBy>
  <cp:revision>1</cp:revision>
  <dcterms:created xsi:type="dcterms:W3CDTF">2025-12-21T10:45:56Z</dcterms:created>
  <dcterms:modified xsi:type="dcterms:W3CDTF">2025-12-21T10:59:15Z</dcterms:modified>
</cp:coreProperties>
</file>